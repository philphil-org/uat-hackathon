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erotou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8384" y="1188720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92608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D4AF6A"/>
                </a:solidFill>
                <a:latin typeface="Georgia"/>
              </a:defRPr>
            </a:pPr>
            <a:r>
              <a:t>ZeroTouch OS</a:t>
            </a:r>
          </a:p>
          <a:p>
            <a:pPr algn="ctr">
              <a:spcBef>
                <a:spcPts val="1000"/>
              </a:spcBef>
              <a:defRPr sz="1500" b="1">
                <a:solidFill>
                  <a:srgbClr val="F2EFE9"/>
                </a:solidFill>
                <a:latin typeface="Consolas"/>
              </a:defRPr>
            </a:pPr>
            <a:r>
              <a:t>THE INVISIBLE SPATIAL PERIPHERAL FOR WINDOWS</a:t>
            </a:r>
          </a:p>
          <a:p>
            <a:pPr algn="ctr">
              <a:spcBef>
                <a:spcPts val="600"/>
              </a:spcBef>
              <a:defRPr sz="1400">
                <a:solidFill>
                  <a:srgbClr val="8A8D93"/>
                </a:solidFill>
                <a:latin typeface="Segoe UI"/>
              </a:defRPr>
            </a:pPr>
            <a:r>
              <a:t>Executive Computer Vision • 100% Local Inferencing • Zero False Positives</a:t>
            </a:r>
          </a:p>
          <a:p>
            <a:pPr algn="ctr">
              <a:spcBef>
                <a:spcPts val="2800"/>
              </a:spcBef>
              <a:defRPr sz="1300">
                <a:solidFill>
                  <a:srgbClr val="B59350"/>
                </a:solidFill>
                <a:latin typeface="Segoe UI"/>
              </a:defRPr>
            </a:pPr>
            <a:r>
              <a:t>UAT Hackathon 2026: See / Analyze / 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6A"/>
                </a:solidFill>
                <a:latin typeface="Segoe UI"/>
              </a:defRPr>
            </a:pPr>
            <a:r>
              <a:t>01 • THE PROBLEM &amp;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2EFE9"/>
                </a:solidFill>
                <a:latin typeface="Georgia"/>
              </a:defRPr>
            </a:pPr>
            <a:r>
              <a:t>The Spatial Computing Problem: Why Cameras Stay Off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81820"/>
          </a:solidFill>
          <a:ln w="12700">
            <a:solidFill>
              <a:srgbClr val="D4A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4AF6A"/>
                </a:solidFill>
                <a:latin typeface="Segoe UI"/>
              </a:defRPr>
            </a:pPr>
            <a:r>
              <a:t>The Problem with Traditional CV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Accidental Triggers: Scratching face, reaching for coffee, or typing fires unintended commands.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Privacy Paranoia: Users distrust cameras streaming frames into cloud servers or storing them on disk.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Fatigue &amp; Distance Limits: Standing up or stepping back to present instantly breaks hand tracking.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Hardware Lockouts: Most CV software locks out Zoom, Teams, or Google Meet from accessing the webcam.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81820"/>
          </a:solidFill>
          <a:ln w="12700">
            <a:solidFill>
              <a:srgbClr val="F2E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9659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2EFE9"/>
                </a:solidFill>
                <a:latin typeface="Segoe UI"/>
              </a:defRPr>
            </a:pPr>
            <a:r>
              <a:t>The ZeroTouch Philosophy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The Invisible Peripheral: Stays silent in the background until deliberate intent is mathematically verified.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100% Volatile RAM: Zero frames stored, zero network requests, zero telemetry leakage.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Multimodal Intent Verification: Real physical typing detection, body ownership reach bounds, and gaze yaw tracking.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Native OS Integration: Leverages Windows Camera Frame Server so Zoom, Meet, and ZeroTouch run simultaneously.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6A"/>
                </a:solidFill>
                <a:latin typeface="Segoe UI"/>
              </a:defRPr>
            </a:pPr>
            <a:r>
              <a:t>02 • SPATIAL WORKFLOW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2EFE9"/>
                </a:solidFill>
                <a:latin typeface="Georgia"/>
              </a:defRPr>
            </a:pPr>
            <a:r>
              <a:t>Context-Aware OS Control: One Engine, Three Modes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4389120"/>
          </a:xfrm>
          <a:prstGeom prst="roundRect">
            <a:avLst/>
          </a:prstGeom>
          <a:solidFill>
            <a:srgbClr val="181820"/>
          </a:solidFill>
          <a:ln w="12700">
            <a:solidFill>
              <a:srgbClr val="D4A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4AF6A"/>
                </a:solidFill>
                <a:latin typeface="Segoe UI"/>
              </a:defRPr>
            </a:pPr>
            <a:r>
              <a:t>Presentation Mode</a:t>
            </a:r>
          </a:p>
          <a:p>
            <a:pPr>
              <a:defRPr sz="1100" b="1">
                <a:solidFill>
                  <a:srgbClr val="2ECC71"/>
                </a:solidFill>
                <a:latin typeface="Consolas"/>
              </a:defRPr>
            </a:pPr>
            <a:r>
              <a:t>[ LIVE DEMO ACTION: Swipe back of hand to advance this slide right now! ]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Targets: PowerPoint, Google Slides, Acrobat PDF.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Back-of-Hand Swipe: Instant Next / Previous Slide advance.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Open Palm Hold (0.5s): Toggles Blank/Resume presentation screen (B key).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Stage-Optimized: Gaze lockouts bypassed so presenters can look at slides or audience.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383280" cy="4389120"/>
          </a:xfrm>
          <a:prstGeom prst="roundRect">
            <a:avLst/>
          </a:prstGeom>
          <a:solidFill>
            <a:srgbClr val="181820"/>
          </a:solidFill>
          <a:ln w="12700">
            <a:solidFill>
              <a:srgbClr val="F2E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6596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2EFE9"/>
                </a:solidFill>
                <a:latin typeface="Segoe UI"/>
              </a:defRPr>
            </a:pPr>
            <a:r>
              <a:t>Video Meeting Mode</a:t>
            </a:r>
          </a:p>
          <a:p>
            <a:pPr>
              <a:defRPr sz="1100" b="1">
                <a:solidFill>
                  <a:srgbClr val="2ECC71"/>
                </a:solidFill>
                <a:latin typeface="Consolas"/>
              </a:defRPr>
            </a:pPr>
            <a:r>
              <a:t>[ LIVE DEMO ACTION: Place finger on lips to trigger hardware mic mute! ]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Targets: Google Meet, Zoom, MS Teams, Webex.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Ghost-Mute (Shh): Index finger to mouth toggles hardware microphone mute directly via Windows Core Audio.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Palm Hold: Instant video camera toggle (Alt + V).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Swipe: Toggle participant / gallery views.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37360"/>
            <a:ext cx="3383280" cy="4389120"/>
          </a:xfrm>
          <a:prstGeom prst="roundRect">
            <a:avLst/>
          </a:prstGeom>
          <a:solidFill>
            <a:srgbClr val="181820"/>
          </a:solidFill>
          <a:ln w="1270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96596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A6FA5"/>
                </a:solidFill>
                <a:latin typeface="Segoe UI"/>
              </a:defRPr>
            </a:pPr>
            <a:r>
              <a:t>Media &amp; Default Mode</a:t>
            </a:r>
          </a:p>
          <a:p>
            <a:pPr>
              <a:defRPr sz="1100" b="1">
                <a:solidFill>
                  <a:srgbClr val="2ECC71"/>
                </a:solidFill>
                <a:latin typeface="Consolas"/>
              </a:defRPr>
            </a:pPr>
            <a:r>
              <a:t>[ LIVE DEMO ACTION: Pinch thumb and index finger to slide volume! ]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Targets: Spotify, YouTube, Netflix, Desktop.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Palm Hold: Smooth Media Play/Pause.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Back-of-Hand Swipe: Next/Prev audio track.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Dynamic Vertical Pinch: Continuous Master Volume slide with live floating capsule feedback.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6A"/>
                </a:solidFill>
                <a:latin typeface="Segoe UI"/>
              </a:defRPr>
            </a:pPr>
            <a:r>
              <a:t>03 • COMPUTER VISION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2EFE9"/>
                </a:solidFill>
                <a:latin typeface="Georgia"/>
              </a:defRPr>
            </a:pPr>
            <a:r>
              <a:t>Noise Rejection: How We Eliminate False Positives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2103120"/>
          </a:xfrm>
          <a:prstGeom prst="roundRect">
            <a:avLst/>
          </a:prstGeom>
          <a:solidFill>
            <a:srgbClr val="181820"/>
          </a:solidFill>
          <a:ln w="12700">
            <a:solidFill>
              <a:srgbClr val="D4A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4AF6A"/>
                </a:solidFill>
                <a:latin typeface="Segoe UI"/>
              </a:defRPr>
            </a:pPr>
            <a:r>
              <a:t>Smart Activity Lockout (Type and Click)</a:t>
            </a:r>
          </a:p>
          <a:p>
            <a:pPr>
              <a:defRPr sz="1100" b="1">
                <a:solidFill>
                  <a:srgbClr val="2ECC71"/>
                </a:solidFill>
                <a:latin typeface="Consolas"/>
              </a:defRPr>
            </a:pPr>
            <a:r>
              <a:t>[ LIVE DEMO ACTION: Type on keyboard -&gt; Gestures instantly sleep ]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Low-level background hooks (Pynput) detect physical keyboard and mouse activity.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While typing or resting hands on the keyboard, gestures sleep for 1.8s.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69080"/>
            <a:ext cx="5120640" cy="2103120"/>
          </a:xfrm>
          <a:prstGeom prst="roundRect">
            <a:avLst/>
          </a:prstGeom>
          <a:solidFill>
            <a:srgbClr val="181820"/>
          </a:solidFill>
          <a:ln w="12700">
            <a:solidFill>
              <a:srgbClr val="F2E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29768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2EFE9"/>
                </a:solidFill>
                <a:latin typeface="Segoe UI"/>
              </a:defRPr>
            </a:pPr>
            <a:r>
              <a:t>Gaze-Clutch (Look-to-Control)</a:t>
            </a:r>
          </a:p>
          <a:p>
            <a:pPr>
              <a:defRPr sz="1100" b="1">
                <a:solidFill>
                  <a:srgbClr val="2ECC71"/>
                </a:solidFill>
                <a:latin typeface="Consolas"/>
              </a:defRPr>
            </a:pPr>
            <a:r>
              <a:t>[ LIVE DEMO ACTION: Turn head away -&gt; HUD shows GAZE: AWAY ]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MediaPipe keypoints track head yaw and pupillary distance in real time.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Looking away at a second monitor immediately clutches gestures to standby.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2103120"/>
          </a:xfrm>
          <a:prstGeom prst="roundRect">
            <a:avLst/>
          </a:prstGeom>
          <a:solidFill>
            <a:srgbClr val="181820"/>
          </a:solidFill>
          <a:ln w="1270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659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A6FA5"/>
                </a:solidFill>
                <a:latin typeface="Segoe UI"/>
              </a:defRPr>
            </a:pPr>
            <a:r>
              <a:t>ShoulderGuard Intruder Shield</a:t>
            </a:r>
          </a:p>
          <a:p>
            <a:pPr>
              <a:defRPr sz="1100" b="1">
                <a:solidFill>
                  <a:srgbClr val="2ECC71"/>
                </a:solidFill>
                <a:latin typeface="Consolas"/>
              </a:defRPr>
            </a:pPr>
            <a:r>
              <a:t>[ LIVE DEMO ACTION: Second person peers over shoulder -&gt; Desktop minimizes ]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BlazeFace scans the workspace for shoulder surfers.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If a second face appears behind you, fires Win+D to hide sensitive work instantly.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69080"/>
            <a:ext cx="5212080" cy="2103120"/>
          </a:xfrm>
          <a:prstGeom prst="roundRect">
            <a:avLst/>
          </a:prstGeom>
          <a:solidFill>
            <a:srgbClr val="181820"/>
          </a:solidFill>
          <a:ln w="12700">
            <a:solidFill>
              <a:srgbClr val="D4A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976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4AF6A"/>
                </a:solidFill>
                <a:latin typeface="Segoe UI"/>
              </a:defRPr>
            </a:pPr>
            <a:r>
              <a:t>Body Ownership &amp; Anti-Jitter Physics</a:t>
            </a:r>
          </a:p>
          <a:p>
            <a:pPr>
              <a:defRPr sz="1100" b="1">
                <a:solidFill>
                  <a:srgbClr val="2ECC71"/>
                </a:solidFill>
                <a:latin typeface="Consolas"/>
              </a:defRPr>
            </a:pPr>
            <a:r>
              <a:t>[ LIVE DEMO ACTION: Hands outside reach radius are rejected ]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Calculates Euclidean reach boundaries between hand wrist and face center.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Passersby or background people cannot steal control; hallucinated joints freeze.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6A"/>
                </a:solidFill>
                <a:latin typeface="Segoe UI"/>
              </a:defRPr>
            </a:pPr>
            <a:r>
              <a:t>04 • KEY INNOVATIONS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2EFE9"/>
                </a:solidFill>
                <a:latin typeface="Georgia"/>
              </a:defRPr>
            </a:pPr>
            <a:r>
              <a:t>Engineering Breakthroughs: Stage Range &amp; Camera Sharing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81820"/>
          </a:solidFill>
          <a:ln w="12700">
            <a:solidFill>
              <a:srgbClr val="D4A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4AF6A"/>
                </a:solidFill>
                <a:latin typeface="Segoe UI"/>
              </a:defRPr>
            </a:pPr>
            <a:r>
              <a:t>Stage &amp; Distance Mode</a:t>
            </a:r>
          </a:p>
          <a:p>
            <a:pPr>
              <a:defRPr sz="1100" b="1">
                <a:solidFill>
                  <a:srgbClr val="2ECC71"/>
                </a:solidFill>
                <a:latin typeface="Consolas"/>
              </a:defRPr>
            </a:pPr>
            <a:r>
              <a:t>[ LIVE DEMO ACTION: Step back 8 feet and wave to advance slides! ]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The Challenge: Webcams at 6-10 feet compress face resolution down to 10 pixels, causing false look away lockouts.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Dynamic Distance Ratio: Real-time calculation of face width relative to screen width (fw / w).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Automatic Focus Bypass: Gaze lockout gracefully disengages when presenting or at distance.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6.0x Arm Reach: Expands presenter reach envelope so wide, expressive stage gestures register smoothly.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81820"/>
          </a:solidFill>
          <a:ln w="12700">
            <a:solidFill>
              <a:srgbClr val="F2E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9659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2EFE9"/>
                </a:solidFill>
                <a:latin typeface="Segoe UI"/>
              </a:defRPr>
            </a:pPr>
            <a:r>
              <a:t>Multi-App Camera Sharing</a:t>
            </a:r>
          </a:p>
          <a:p>
            <a:pPr>
              <a:defRPr sz="1100" b="1">
                <a:solidFill>
                  <a:srgbClr val="2ECC71"/>
                </a:solidFill>
                <a:latin typeface="Consolas"/>
              </a:defRPr>
            </a:pPr>
            <a:r>
              <a:t>[ LIVE DEMO ACTION: Google Meet and ZeroTouch run on same webcam! ]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The Challenge: Windows UVC camera drivers enforce exclusive hardware locks, crashing Zoom or Google Meet if CV is running.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Native Frame Server: Configured OpenCV Media Foundation (CAP_MSMF) to hook svchost.exe -k Camera.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Zero Virtual Camera Latency: No third-party drivers or OBS needed.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1-Click Dashboard Setup: Integrated OS deep-link (ms-settings:camera) with in-app guidance for instant multi-app streaming.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6A"/>
                </a:solidFill>
                <a:latin typeface="Segoe UI"/>
              </a:defRPr>
            </a:pPr>
            <a:r>
              <a:t>05 •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2EFE9"/>
                </a:solidFill>
                <a:latin typeface="Georgia"/>
              </a:defRPr>
            </a:pPr>
            <a:r>
              <a:t>System Architecture: High-Throughput &amp; Low Footprint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81820"/>
          </a:solidFill>
          <a:ln w="1270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A6FA5"/>
                </a:solidFill>
                <a:latin typeface="Segoe UI"/>
              </a:defRPr>
            </a:pPr>
            <a:r>
              <a:t>High-Throughput IPC Pipeline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Shared Memory (multiprocessing.shared_memory): Zero-copy 30 FPS telemetry and downscaled feed streamed between engine and GUI.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Ultra-Lightweight Dashboard: CustomTkinter widget (350x600) with collapsible video preview to save CPU cycles.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Windows System Tray: Completely hideable to system tray with persistent background execution.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Floating Capsule HUD: Tkinter topmost micro-pill that drops down for 1.2s to confirm gestures without blocking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81820"/>
          </a:solidFill>
          <a:ln w="12700">
            <a:solidFill>
              <a:srgbClr val="D4A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9659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4AF6A"/>
                </a:solidFill>
                <a:latin typeface="Segoe UI"/>
              </a:defRPr>
            </a:pPr>
            <a:r>
              <a:t>Tech Stack &amp; Standards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Computer Vision: Google MediaPipe Tasks API (HandLandmarker + BlazeFace)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Frame Ingestion: OpenCV 5.0 with MSMF Frame Server Broker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Hardware Audio Hook: Windows Core Audio via Pycaw (Endpoint Volume API)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OS Automation: PyAutoGUI, Pynput, PyWin32 (Win32 API)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Acoustic Haptics: Windows Sound API (Winsound) with custom wave chimes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Packaging: Native 1-Click Batch Launcher (Start_Aero.bat) with virtualenv isolation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6A"/>
                </a:solidFill>
                <a:latin typeface="Segoe UI"/>
              </a:defRPr>
            </a:pPr>
            <a:r>
              <a:t>06 • LIVE DEMONSTRATION &amp;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2EFE9"/>
                </a:solidFill>
                <a:latin typeface="Georgia"/>
              </a:defRPr>
            </a:pPr>
            <a:r>
              <a:t>Live Demonstration: The 4 Golden Demos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81820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CC71"/>
                </a:solidFill>
                <a:latin typeface="Segoe UI"/>
              </a:defRPr>
            </a:pPr>
            <a:r>
              <a:t>4 Interactive Demonstrations for Judges</a:t>
            </a:r>
          </a:p>
          <a:p>
            <a:pPr>
              <a:defRPr sz="1100" b="1">
                <a:solidFill>
                  <a:srgbClr val="2ECC71"/>
                </a:solidFill>
                <a:latin typeface="Consolas"/>
              </a:defRPr>
            </a:pPr>
            <a:r>
              <a:t>[ LIVE DEMO ACTION: Ready for Live Judges Hands-On ]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1. Slide Deck Navigation: Back-of-hand swipe to cycle presentation slides forward and backward right now.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2. Ghost-Mute: Index finger to mouth to toggle Windows hardware microphone mute with haptic chime.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3. Smart Activity Lockout: Typing on the keyboard instantly freezes gestures to prevent accidental input.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4. Stage Distance Reach: Stepping back across the room to show seamless long-range slide control.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81820"/>
          </a:solidFill>
          <a:ln w="12700">
            <a:solidFill>
              <a:srgbClr val="D4A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9659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4AF6A"/>
                </a:solidFill>
                <a:latin typeface="Segoe UI"/>
              </a:defRPr>
            </a:pPr>
            <a:r>
              <a:t>Summary &amp; Future Vision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Summary: ZeroTouch transforms standard webcams into executive, enterprise-grade spatial interfaces without cloud risk or false inputs.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Future Roadmap: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  • Multimodal head-tilt micro gestures for accessibility.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  • Native Windows 11 Copilot / Taskbar widget integration.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  • Hardware acceleration optimizations via ONNX Runtime / DirectML.</a:t>
            </a:r>
          </a:p>
          <a:p>
            <a:pPr>
              <a:spcBef>
                <a:spcPts val="600"/>
              </a:spcBef>
              <a:defRPr sz="1300">
                <a:solidFill>
                  <a:srgbClr val="F2EFE9"/>
                </a:solidFill>
                <a:latin typeface="Segoe UI"/>
              </a:defRPr>
            </a:pPr>
            <a:r>
              <a:t>• GitHub: https://github.com/Philphil-org/UAT-Hackathon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