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ro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05156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97480"/>
            <a:ext cx="1036015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6A"/>
                </a:solidFill>
                <a:latin typeface="Georgia"/>
              </a:defRPr>
            </a:pPr>
            <a:r>
              <a:t>ZeroTouch OS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2EFE9"/>
                </a:solidFill>
                <a:latin typeface="Consolas"/>
              </a:defRPr>
            </a:pPr>
            <a:r>
              <a:t>THE INVISIBLE SPATIAL PERIPHERAL FOR WINDOWS</a:t>
            </a:r>
          </a:p>
          <a:p>
            <a:pPr algn="ctr">
              <a:spcBef>
                <a:spcPts val="600"/>
              </a:spcBef>
              <a:defRPr sz="1300">
                <a:solidFill>
                  <a:srgbClr val="91949B"/>
                </a:solidFill>
                <a:latin typeface="Segoe UI"/>
              </a:defRPr>
            </a:pPr>
            <a:r>
              <a:t>Zero Cloud Footprint  •  Multi-Modal False Trigger Defense  •  Active App Context</a:t>
            </a:r>
          </a:p>
          <a:p>
            <a:pPr algn="ctr">
              <a:spcBef>
                <a:spcPts val="3000"/>
              </a:spcBef>
              <a:defRPr sz="1200" b="1">
                <a:solidFill>
                  <a:srgbClr val="A0824B"/>
                </a:solidFill>
                <a:latin typeface="Consolas"/>
              </a:defRPr>
            </a:pPr>
            <a:r>
              <a:t>UAT Hackathon 2026  |  See  •  Analyze  • 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01 • THESIS &amp; WORKFLOW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The Spatial Dilemma &amp; Context-Aware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F6A"/>
                </a:solidFill>
                <a:latin typeface="Segoe UI"/>
              </a:defRPr>
            </a:pPr>
            <a:r>
              <a:t>The Spatial Dilemma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WHY CV PERIPHERALS FAIL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Accidental Triggers: </a:t>
            </a:r>
            <a:r>
              <a:rPr sz="1300">
                <a:solidFill>
                  <a:srgbClr val="91949B"/>
                </a:solidFill>
                <a:latin typeface="Segoe UI"/>
              </a:rPr>
              <a:t>Scratching face or typing fires unwanted clicks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Privacy Paranoia: </a:t>
            </a:r>
            <a:r>
              <a:rPr sz="1300">
                <a:solidFill>
                  <a:srgbClr val="91949B"/>
                </a:solidFill>
                <a:latin typeface="Segoe UI"/>
              </a:rPr>
              <a:t>Users fear webcams streaming frames to the cloud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Hardware Lockouts: </a:t>
            </a:r>
            <a:r>
              <a:rPr sz="1300">
                <a:solidFill>
                  <a:srgbClr val="91949B"/>
                </a:solidFill>
                <a:latin typeface="Segoe UI"/>
              </a:rPr>
              <a:t>Standard CV apps hijack webcam from Zoom/Teams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Posture Constraints: </a:t>
            </a:r>
            <a:r>
              <a:rPr sz="1300">
                <a:solidFill>
                  <a:srgbClr val="91949B"/>
                </a:solidFill>
                <a:latin typeface="Segoe UI"/>
              </a:rPr>
              <a:t>Stepping back from desk breaks tracking completely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2EFE9"/>
                </a:solidFill>
                <a:latin typeface="Segoe UI"/>
              </a:defRPr>
            </a:pPr>
            <a:r>
              <a:t>Context-Aware Engine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ADAPTS TO ACTIVE APP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Presentation Mode: </a:t>
            </a:r>
            <a:r>
              <a:rPr sz="1300">
                <a:solidFill>
                  <a:srgbClr val="91949B"/>
                </a:solidFill>
                <a:latin typeface="Segoe UI"/>
              </a:rPr>
              <a:t>PowerPoint &amp; Slides: Wave swipe to advance; palm to blank screen ('B')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Meeting Mode: </a:t>
            </a:r>
            <a:r>
              <a:rPr sz="1300">
                <a:solidFill>
                  <a:srgbClr val="91949B"/>
                </a:solidFill>
                <a:latin typeface="Segoe UI"/>
              </a:rPr>
              <a:t>Meet &amp; Teams: Ghost-Mute (Shh), camera toggle (Ctrl+E / Ctrl+Shift+O)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Media Mode: </a:t>
            </a:r>
            <a:r>
              <a:rPr sz="1300">
                <a:solidFill>
                  <a:srgbClr val="91949B"/>
                </a:solidFill>
                <a:latin typeface="Segoe UI"/>
              </a:rPr>
              <a:t>Spotify &amp; YouTube: Natural palm play/pause and continuous volume pinch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Auto Mode Switching: </a:t>
            </a:r>
            <a:r>
              <a:rPr sz="1300">
                <a:solidFill>
                  <a:srgbClr val="91949B"/>
                </a:solidFill>
                <a:latin typeface="Segoe UI"/>
              </a:rPr>
              <a:t>Detects focused window every 400ms seamlessly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57DB9"/>
                </a:solidFill>
                <a:latin typeface="Segoe UI"/>
              </a:defRPr>
            </a:pPr>
            <a:r>
              <a:t>ZeroTouch Breakthrough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THE INVISIBLE PERIPHERAL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100% Volatile RAM: </a:t>
            </a:r>
            <a:r>
              <a:rPr sz="1300">
                <a:solidFill>
                  <a:srgbClr val="91949B"/>
                </a:solidFill>
                <a:latin typeface="Segoe UI"/>
              </a:rPr>
              <a:t>Zero video frames ever stored or transmitted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OS Camera Sharing: </a:t>
            </a:r>
            <a:r>
              <a:rPr sz="1300">
                <a:solidFill>
                  <a:srgbClr val="91949B"/>
                </a:solidFill>
                <a:latin typeface="Segoe UI"/>
              </a:rPr>
              <a:t>Native Windows Frame Server coexists with Meet/Teams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Stage Distance Engine: </a:t>
            </a:r>
            <a:r>
              <a:rPr sz="1300">
                <a:solidFill>
                  <a:srgbClr val="91949B"/>
                </a:solidFill>
                <a:latin typeface="Segoe UI"/>
              </a:rPr>
              <a:t>Dynamic distance scaling works from 6–10 feet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 Window Stealing: </a:t>
            </a:r>
            <a:r>
              <a:rPr sz="1300">
                <a:solidFill>
                  <a:srgbClr val="91949B"/>
                </a:solidFill>
                <a:latin typeface="Segoe UI"/>
              </a:rPr>
              <a:t>Controls background media without losing active window focus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02 • TARGET MARKET &amp; PERSONAS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Who Needs ZeroTouch: Real-World Demographics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F6A"/>
                </a:solidFill>
                <a:latin typeface="Segoe UI"/>
              </a:defRPr>
            </a:pPr>
            <a:r>
              <a:t>Hybrid Knowledge Workers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REMOTE &amp; ENTERPRISE TEAMS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1949B"/>
                </a:solidFill>
                <a:latin typeface="Segoe UI"/>
              </a:rPr>
              <a:t>4–6 hours daily in Google Meet, Teams, and Zoom calls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Frustration: </a:t>
            </a:r>
            <a:r>
              <a:rPr sz="1300">
                <a:solidFill>
                  <a:srgbClr val="91949B"/>
                </a:solidFill>
                <a:latin typeface="Segoe UI"/>
              </a:rPr>
              <a:t>Scrambling across 10 open windows to find the mute button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Superpower: </a:t>
            </a:r>
            <a:r>
              <a:rPr sz="1300">
                <a:solidFill>
                  <a:srgbClr val="91949B"/>
                </a:solidFill>
                <a:latin typeface="Segoe UI"/>
              </a:rPr>
              <a:t>Instant 'Shh' hardware mute without touching window or mouse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Enterprise Compliance: </a:t>
            </a:r>
            <a:r>
              <a:rPr sz="1300">
                <a:solidFill>
                  <a:srgbClr val="91949B"/>
                </a:solidFill>
                <a:latin typeface="Segoe UI"/>
              </a:rPr>
              <a:t>Runs 100% locally; satisfies strict corporate data policies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2EFE9"/>
                </a:solidFill>
                <a:latin typeface="Segoe UI"/>
              </a:defRPr>
            </a:pPr>
            <a:r>
              <a:t>Speakers &amp; Educators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KEYNOTES, LECTURERS, PITCHES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1949B"/>
                </a:solidFill>
                <a:latin typeface="Segoe UI"/>
              </a:rPr>
              <a:t>Presenting to clients, lecture halls, and live pitch judges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Frustration: </a:t>
            </a:r>
            <a:r>
              <a:rPr sz="1300">
                <a:solidFill>
                  <a:srgbClr val="91949B"/>
                </a:solidFill>
                <a:latin typeface="Segoe UI"/>
              </a:rPr>
              <a:t>Tethered to podium laptop or relying on dead clicker batteries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Superpower: </a:t>
            </a:r>
            <a:r>
              <a:rPr sz="1300">
                <a:solidFill>
                  <a:srgbClr val="91949B"/>
                </a:solidFill>
                <a:latin typeface="Segoe UI"/>
              </a:rPr>
              <a:t>Walk the stage freely; advance slides from 10 feet away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Audience Command: </a:t>
            </a:r>
            <a:r>
              <a:rPr sz="1300">
                <a:solidFill>
                  <a:srgbClr val="91949B"/>
                </a:solidFill>
                <a:latin typeface="Segoe UI"/>
              </a:rPr>
              <a:t>Hold open palm to blank screen ('B') and hold room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91640"/>
            <a:ext cx="33832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892808"/>
            <a:ext cx="29443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57DB9"/>
                </a:solidFill>
                <a:latin typeface="Segoe UI"/>
              </a:defRPr>
            </a:pPr>
            <a:r>
              <a:t>Workstation Power Users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MULTI-MONITOR &amp; ERGONOMICS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1949B"/>
                </a:solidFill>
                <a:latin typeface="Segoe UI"/>
              </a:rPr>
              <a:t>Software developers, video editors, and heavy multi-taskers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Frustration: </a:t>
            </a:r>
            <a:r>
              <a:rPr sz="1300">
                <a:solidFill>
                  <a:srgbClr val="91949B"/>
                </a:solidFill>
                <a:latin typeface="Segoe UI"/>
              </a:rPr>
              <a:t>Breaking flow and Alt-Tabbing just to adjust volume or tracks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Superpower: </a:t>
            </a:r>
            <a:r>
              <a:rPr sz="1300">
                <a:solidFill>
                  <a:srgbClr val="91949B"/>
                </a:solidFill>
                <a:latin typeface="Segoe UI"/>
              </a:rPr>
              <a:t>Spatial volume and track controls without stealing keyboard focus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Ergonomic Relief: </a:t>
            </a:r>
            <a:r>
              <a:rPr sz="1300">
                <a:solidFill>
                  <a:srgbClr val="91949B"/>
                </a:solidFill>
                <a:latin typeface="Segoe UI"/>
              </a:rPr>
              <a:t>Hands-free micro-gestures reduce repetitive mouse-clutching strain (RSI)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03 • COMPUTER VISION DEFENSE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Noise Defense: Eliminating False Triggers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92808"/>
            <a:ext cx="468172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F6A"/>
                </a:solidFill>
                <a:latin typeface="Segoe UI"/>
              </a:defRPr>
            </a:pPr>
            <a:r>
              <a:t>Smart Activity Lockout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TYPE &amp; CLICK DETECTION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D4AF6A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Hardware Intercept: </a:t>
            </a:r>
            <a:r>
              <a:rPr sz="1200">
                <a:solidFill>
                  <a:srgbClr val="91949B"/>
                </a:solidFill>
                <a:latin typeface="Segoe UI"/>
              </a:rPr>
              <a:t>Global pynput hooks detect active typing &amp; mouse clicks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D4AF6A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Smart Sleep: </a:t>
            </a:r>
            <a:r>
              <a:rPr sz="1200">
                <a:solidFill>
                  <a:srgbClr val="91949B"/>
                </a:solidFill>
                <a:latin typeface="Segoe UI"/>
              </a:rPr>
              <a:t>Gestures instantly sleep while typing; zero accidental misfires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4224528"/>
            <a:ext cx="468172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2EFE9"/>
                </a:solidFill>
                <a:latin typeface="Segoe UI"/>
              </a:defRPr>
            </a:pPr>
            <a:r>
              <a:t>Gaze-Clutch™ Technology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LOOK-TO-CONTROL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2EFE9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Head Yaw Telemetry: </a:t>
            </a:r>
            <a:r>
              <a:rPr sz="1200">
                <a:solidFill>
                  <a:srgbClr val="91949B"/>
                </a:solidFill>
                <a:latin typeface="Segoe UI"/>
              </a:rPr>
              <a:t>Monitors 3D facial orientation and pupillary distance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F2EFE9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Intent Verification: </a:t>
            </a:r>
            <a:r>
              <a:rPr sz="1200">
                <a:solidFill>
                  <a:srgbClr val="91949B"/>
                </a:solidFill>
                <a:latin typeface="Segoe UI"/>
              </a:rPr>
              <a:t>Looking at other monitors automatically clutches gestures to standby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892808"/>
            <a:ext cx="47731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57DB9"/>
                </a:solidFill>
                <a:latin typeface="Segoe UI"/>
              </a:defRPr>
            </a:pPr>
            <a:r>
              <a:t>ShoulderGuard™ Intruder Shield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PRIVACY PROTECTION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557DB9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Background Face Scan: </a:t>
            </a:r>
            <a:r>
              <a:rPr sz="1200">
                <a:solidFill>
                  <a:srgbClr val="91949B"/>
                </a:solidFill>
                <a:latin typeface="Segoe UI"/>
              </a:rPr>
              <a:t>BlazeFace scans continuous periphery for shoulder surfers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557DB9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Instant Boss Key: </a:t>
            </a:r>
            <a:r>
              <a:rPr sz="1200">
                <a:solidFill>
                  <a:srgbClr val="91949B"/>
                </a:solidFill>
                <a:latin typeface="Segoe UI"/>
              </a:rPr>
              <a:t>Second face detected automatically minimizes to desktop (Win+D)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4884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4224528"/>
            <a:ext cx="47731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F6A"/>
                </a:solidFill>
                <a:latin typeface="Segoe UI"/>
              </a:defRPr>
            </a:pPr>
            <a:r>
              <a:t>Body Ownership &amp; Physics Engine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ANTI-JITTER &amp; REACH BOUNDS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D4AF6A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Passerby Rejection: </a:t>
            </a:r>
            <a:r>
              <a:rPr sz="1200">
                <a:solidFill>
                  <a:srgbClr val="91949B"/>
                </a:solidFill>
                <a:latin typeface="Segoe UI"/>
              </a:rPr>
              <a:t>Locks control to primary user; rejects background passerby hands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D4AF6A"/>
                </a:solidFill>
                <a:latin typeface="Segoe UI"/>
              </a:rPr>
              <a:t>• </a:t>
            </a:r>
            <a:r>
              <a:rPr b="1" sz="1200">
                <a:solidFill>
                  <a:srgbClr val="F2EFE9"/>
                </a:solidFill>
                <a:latin typeface="Segoe UI"/>
              </a:rPr>
              <a:t>Bone Length Physics: </a:t>
            </a:r>
            <a:r>
              <a:rPr sz="1200">
                <a:solidFill>
                  <a:srgbClr val="91949B"/>
                </a:solidFill>
                <a:latin typeface="Segoe UI"/>
              </a:rPr>
              <a:t>Freezes hallucinated joints when gripping phones or objects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04 • ARCHITECTURE &amp; SUMMARY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Engineering Architecture &amp; Why ZeroTouch Wins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892808"/>
            <a:ext cx="468172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557DB9"/>
                </a:solidFill>
                <a:latin typeface="Segoe UI"/>
              </a:defRPr>
            </a:pPr>
            <a:r>
              <a:t>High-Performance Architecture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WINDOWS OS INTEGRATION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Zero-Copy Shared Memory: </a:t>
            </a:r>
            <a:r>
              <a:rPr sz="1300">
                <a:solidFill>
                  <a:srgbClr val="91949B"/>
                </a:solidFill>
                <a:latin typeface="Segoe UI"/>
              </a:rPr>
              <a:t>multiprocessing.shared_memory streams 30 FPS HUD previews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Hardware Audio Core: </a:t>
            </a:r>
            <a:r>
              <a:rPr sz="1300">
                <a:solidFill>
                  <a:srgbClr val="91949B"/>
                </a:solidFill>
                <a:latin typeface="Segoe UI"/>
              </a:rPr>
              <a:t>Direct Windows Core Audio (PyCAW) input endpoint volume mute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Native Camera Sharing: </a:t>
            </a:r>
            <a:r>
              <a:rPr sz="1300">
                <a:solidFill>
                  <a:srgbClr val="91949B"/>
                </a:solidFill>
                <a:latin typeface="Segoe UI"/>
              </a:rPr>
              <a:t>OpenCV MSMF backend hooks svchost Camera for multi-app streaming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Executive Ambient HUD: </a:t>
            </a:r>
            <a:r>
              <a:rPr sz="1300">
                <a:solidFill>
                  <a:srgbClr val="91949B"/>
                </a:solidFill>
                <a:latin typeface="Segoe UI"/>
              </a:rPr>
              <a:t>CustomTkinter dashboard + always-on-top champagne micro-pill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212080" cy="448056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892808"/>
            <a:ext cx="4773168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4AF6A"/>
                </a:solidFill>
                <a:latin typeface="Segoe UI"/>
              </a:defRPr>
            </a:pPr>
            <a:r>
              <a:t>Why ZeroTouch Wins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1949B"/>
                </a:solidFill>
                <a:latin typeface="Consolas"/>
              </a:defRPr>
            </a:pPr>
            <a:r>
              <a:t>EXECUTIVE PRODUCTION POLISH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Production Finish: </a:t>
            </a:r>
            <a:r>
              <a:rPr sz="1300">
                <a:solidFill>
                  <a:srgbClr val="91949B"/>
                </a:solidFill>
                <a:latin typeface="Segoe UI"/>
              </a:rPr>
              <a:t>1-click silent background launcher, custom taskbar brand &amp; tray icon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No Hardware Needed: </a:t>
            </a:r>
            <a:r>
              <a:rPr sz="1300">
                <a:solidFill>
                  <a:srgbClr val="91949B"/>
                </a:solidFill>
                <a:latin typeface="Segoe UI"/>
              </a:rPr>
              <a:t>Works on any built-in laptop webcam or $15 USB camera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Solves Everyday Pain: </a:t>
            </a:r>
            <a:r>
              <a:rPr sz="1300">
                <a:solidFill>
                  <a:srgbClr val="91949B"/>
                </a:solidFill>
                <a:latin typeface="Segoe UI"/>
              </a:rPr>
              <a:t>Not a tech demo; designed for daily desk and presentation workflows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Open Source &amp; Live: </a:t>
            </a:r>
            <a:r>
              <a:rPr sz="1300">
                <a:solidFill>
                  <a:srgbClr val="91949B"/>
                </a:solidFill>
                <a:latin typeface="Segoe UI"/>
              </a:rPr>
              <a:t>Tested, verified, and ready on GitHub: Philphil-org/UAT-Hackathon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