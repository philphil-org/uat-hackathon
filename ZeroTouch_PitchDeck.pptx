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rotou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4" y="118872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926080"/>
            <a:ext cx="103601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D4AF6A"/>
                </a:solidFill>
                <a:latin typeface="Georgia"/>
              </a:defRPr>
            </a:pPr>
            <a:r>
              <a:t>ZeroTouch OS</a:t>
            </a:r>
          </a:p>
          <a:p>
            <a:pPr algn="ctr">
              <a:spcBef>
                <a:spcPts val="1000"/>
              </a:spcBef>
              <a:defRPr sz="1500" b="1">
                <a:solidFill>
                  <a:srgbClr val="F2EFE9"/>
                </a:solidFill>
                <a:latin typeface="Consolas"/>
              </a:defRPr>
            </a:pPr>
            <a:r>
              <a:t>THE INVISIBLE SPATIAL PERIPHERAL FOR WINDOWS</a:t>
            </a:r>
          </a:p>
          <a:p>
            <a:pPr algn="ctr">
              <a:spcBef>
                <a:spcPts val="600"/>
              </a:spcBef>
              <a:defRPr sz="1400">
                <a:solidFill>
                  <a:srgbClr val="8A8D93"/>
                </a:solidFill>
                <a:latin typeface="Segoe UI"/>
              </a:defRPr>
            </a:pPr>
            <a:r>
              <a:t>Executive Computer Vision • 100% Local Inferencing • Zero False Positives</a:t>
            </a:r>
          </a:p>
          <a:p>
            <a:pPr algn="ctr">
              <a:spcBef>
                <a:spcPts val="2800"/>
              </a:spcBef>
              <a:defRPr sz="1300">
                <a:solidFill>
                  <a:srgbClr val="A0824B"/>
                </a:solidFill>
                <a:latin typeface="Segoe UI"/>
              </a:defRPr>
            </a:pPr>
            <a:r>
              <a:t>UAT Hackathon 2026: See / Analyze / Build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Consolas"/>
              </a:defRPr>
            </a:pPr>
            <a:r>
              <a:t>01 • PROBLEM &amp; THESIS</a:t>
            </a:r>
          </a:p>
          <a:p>
            <a:pPr>
              <a:spcBef>
                <a:spcPts val="400"/>
              </a:spcBef>
              <a:defRPr sz="2600" b="1">
                <a:solidFill>
                  <a:srgbClr val="F2EFE9"/>
                </a:solidFill>
                <a:latin typeface="Georgia"/>
              </a:defRPr>
            </a:pPr>
            <a:r>
              <a:t>The Spatial Dilemma: Why Computer Vision Peripherals Fail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6596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4AF6A"/>
                </a:solidFill>
                <a:latin typeface="Segoe UI"/>
              </a:defRPr>
            </a:pPr>
            <a:r>
              <a:t>The Problem: Too Noisy to Leave On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Accidental Triggers: Scratching face, typing, or grabbing a cup fires unintended clicks and commands.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Privacy Paranoia: Users fear cameras streaming frames across networks or logging to disk.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Distance &amp; Posture Limits: Stepping back to present slides breaks hand tracking or trips false look-aways.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Hardware Lockouts: Most CV software monopolizes the webcam, preventing Zoom, Teams, or Meet from opening.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F2E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9659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2EFE9"/>
                </a:solidFill>
                <a:latin typeface="Segoe UI"/>
              </a:defRPr>
            </a:pPr>
            <a:r>
              <a:t>The Solution: The Invisible Peripheral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100% Volatile RAM: Zero video frames saved or transmitted; all inference runs strictly in local memory.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Multimodal Intent Filtering: Physical typing lockout, gaze tracking, and reach boundaries eliminate misfires.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Stage Mode: Automatic distance adaptation keeps controls responsive at 6–10 feet.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Native OS Camera Sharing: Windows Camera Frame Server sharing allows simultaneous Google Meet and CV usage.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Consolas"/>
              </a:defRPr>
            </a:pPr>
            <a:r>
              <a:t>02 • MARKET &amp; AUDIENCE</a:t>
            </a:r>
          </a:p>
          <a:p>
            <a:pPr>
              <a:spcBef>
                <a:spcPts val="400"/>
              </a:spcBef>
              <a:defRPr sz="2600" b="1">
                <a:solidFill>
                  <a:srgbClr val="F2EFE9"/>
                </a:solidFill>
                <a:latin typeface="Georgia"/>
              </a:defRPr>
            </a:pPr>
            <a:r>
              <a:t>Target Demographic &amp; Real-World User Personas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383280" cy="4389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6596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4AF6A"/>
                </a:solidFill>
                <a:latin typeface="Segoe UI"/>
              </a:defRPr>
            </a:pPr>
            <a:r>
              <a:t>Corporate &amp; Remote Pros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200" b="1">
                <a:solidFill>
                  <a:srgbClr val="8A8D93"/>
                </a:solidFill>
                <a:latin typeface="Segoe UI"/>
              </a:defRPr>
            </a:pPr>
            <a:r>
              <a:t>Knowledge Workers &amp; Remote Teams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Profile: Spends 4–6 hrs/day in virtual meetings (Google Meet, Microsoft Teams, Zoom).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Pain Point: Scrambling across 5 open windows to find the mute button while coughing or interrupted.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ZeroTouch Value: Ghost-Mute (Shh to lips) toggles hardware mic instantly with zero window focus needed.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Enterprise Fit: 100% local RAM execution complies with corporate IT security &amp; data privacy mandates.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37360"/>
            <a:ext cx="3383280" cy="4389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F2E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96596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2EFE9"/>
                </a:solidFill>
                <a:latin typeface="Segoe UI"/>
              </a:defRPr>
            </a:pPr>
            <a:r>
              <a:t>Presenters &amp; Educators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200" b="1">
                <a:solidFill>
                  <a:srgbClr val="8A8D93"/>
                </a:solidFill>
                <a:latin typeface="Segoe UI"/>
              </a:defRPr>
            </a:pPr>
            <a:r>
              <a:t>Speakers, Lecturers &amp; Pitch Teams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Profile: Keynote speakers, university lecturers, sales executives, and conference presenters.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Pain Point: Tethered to podium laptop, dealing with broken/dead clicker dongles, or awkward pacing.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ZeroTouch Value: Stage Mode lets presenters navigate slides from 6–10 feet away with natural gestures.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Audience Engagement: Blank/resume slides instantly ('B') to command room attention without touching hardware.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37360"/>
            <a:ext cx="3383280" cy="4389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96596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A6FA5"/>
                </a:solidFill>
                <a:latin typeface="Segoe UI"/>
              </a:defRPr>
            </a:pPr>
            <a:r>
              <a:t>Power Users &amp; Ergonomics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200" b="1">
                <a:solidFill>
                  <a:srgbClr val="8A8D93"/>
                </a:solidFill>
                <a:latin typeface="Segoe UI"/>
              </a:defRPr>
            </a:pPr>
            <a:r>
              <a:t>Workstation Operators &amp; Accessibility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Profile: Multi-monitor developers, creative pros, and users managing RSI/carpal tunnel fatigue.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Pain Point: Constant Alt-Tab context switching to adjust media volume or tracks interrupts deep flow.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ZeroTouch Value: Frictionless spatial volume and media playback without stealing active keyboard focus.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Accessibility: Effortless micro-gestures reduce repetitive wrist and finger strain from mouse clutching.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Consolas"/>
              </a:defRPr>
            </a:pPr>
            <a:r>
              <a:t>03 • SPATIAL WORKFLOW</a:t>
            </a:r>
          </a:p>
          <a:p>
            <a:pPr>
              <a:spcBef>
                <a:spcPts val="400"/>
              </a:spcBef>
              <a:defRPr sz="2600" b="1">
                <a:solidFill>
                  <a:srgbClr val="F2EFE9"/>
                </a:solidFill>
                <a:latin typeface="Georgia"/>
              </a:defRPr>
            </a:pPr>
            <a:r>
              <a:t>Context-Aware Architecture: One Engine, Three Modes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383280" cy="4389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6596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4AF6A"/>
                </a:solidFill>
                <a:latin typeface="Segoe UI"/>
              </a:defRPr>
            </a:pPr>
            <a:r>
              <a:t>Presentation Mode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Targets: PowerPoint, Google Slides, Keynote, PDF Reader.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Back-of-Hand Swipe: Advance (Right) or return (Left) slides seamlessly across the room.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Open Palm Hold (0.5s): Blank/resume screen ('B').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Stage Optimization: Disengages desk gaze lockouts so presenters can look at audience or slides freely.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37360"/>
            <a:ext cx="3383280" cy="4389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F2E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96596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2EFE9"/>
                </a:solidFill>
                <a:latin typeface="Segoe UI"/>
              </a:defRPr>
            </a:pPr>
            <a:r>
              <a:t>Video Meeting Mode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Targets: Google Meet, Zoom, MS Teams, Webex.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Ghost-Mute (Shh): Index finger to mouth directly toggles hardware mic via Windows Core Audio + in-app sync.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Open Palm Hold: Instant camera toggle (Ctrl+E in Meet, Ctrl+Shift+O in Teams, Alt+V in Zoom).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Back-of-Hand Swipe: Toggle People panel or Raise/Lower Hand without clicking.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37360"/>
            <a:ext cx="3383280" cy="4389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96596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A6FA5"/>
                </a:solidFill>
                <a:latin typeface="Segoe UI"/>
              </a:defRPr>
            </a:pPr>
            <a:r>
              <a:t>Media &amp; Default Mode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Targets: Spotify, YouTube, Netflix, Desktop.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Open Palm Hold: Smooth play/pause toggle.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Dynamic Vertical Pinch: Continuous master volume control with live capsule HUD updates.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Back-of-Hand Swipe: Skip or previous track.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Consolas"/>
              </a:defRPr>
            </a:pPr>
            <a:r>
              <a:t>04 • COMPUTER VISION DEFENSE</a:t>
            </a:r>
          </a:p>
          <a:p>
            <a:pPr>
              <a:spcBef>
                <a:spcPts val="400"/>
              </a:spcBef>
              <a:defRPr sz="2600" b="1">
                <a:solidFill>
                  <a:srgbClr val="F2EFE9"/>
                </a:solidFill>
                <a:latin typeface="Georgia"/>
              </a:defRPr>
            </a:pPr>
            <a:r>
              <a:t>Noise Defense: How We Eliminated False Triggers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120640" cy="2103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6596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4AF6A"/>
                </a:solidFill>
                <a:latin typeface="Segoe UI"/>
              </a:defRPr>
            </a:pPr>
            <a:r>
              <a:t>Smart Activity Lockout (Type &amp; Click)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Background hardware hooks (Pynput) detect keyboard typing and mouse clicks.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While typing or resting hands above keyboard, gestures sleep to prevent false firing.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69080"/>
            <a:ext cx="5120640" cy="2103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F2E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2EFE9"/>
                </a:solidFill>
                <a:latin typeface="Segoe UI"/>
              </a:defRPr>
            </a:pPr>
            <a:r>
              <a:t>Gaze-Clutch (Look-to-Control)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Real-time 3D head yaw and pupillary distance tracking.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Glancing away at another screen automatically clutches gestures to standby.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212080" cy="2103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659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A6FA5"/>
                </a:solidFill>
                <a:latin typeface="Segoe UI"/>
              </a:defRPr>
            </a:pPr>
            <a:r>
              <a:t>ShoulderGuard Intruder Shield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Continuous BlazeFace scan monitors for shoulder surfers in public spaces.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If a second face appears behind you, automatically fires Win+D to protect sensitive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69080"/>
            <a:ext cx="5212080" cy="2103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29768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4AF6A"/>
                </a:solidFill>
                <a:latin typeface="Segoe UI"/>
              </a:defRPr>
            </a:pPr>
            <a:r>
              <a:t>Body Ownership &amp; Anti-Jitter Physics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Calculates Euclidean distance between wrist and face; rejects passerby hands.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Bone length stability and acceleration checks freeze hallucinated hand joints.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Consolas"/>
              </a:defRPr>
            </a:pPr>
            <a:r>
              <a:t>05 • ARCHITECTURE &amp; SUMMARY</a:t>
            </a:r>
          </a:p>
          <a:p>
            <a:pPr>
              <a:spcBef>
                <a:spcPts val="400"/>
              </a:spcBef>
              <a:defRPr sz="2600" b="1">
                <a:solidFill>
                  <a:srgbClr val="F2EFE9"/>
                </a:solidFill>
                <a:latin typeface="Georgia"/>
              </a:defRPr>
            </a:pPr>
            <a:r>
              <a:t>Technical Architecture &amp; Hackathon Wrap-Up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6596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A6FA5"/>
                </a:solidFill>
                <a:latin typeface="Segoe UI"/>
              </a:defRPr>
            </a:pPr>
            <a:r>
              <a:t>High-Performance System Architecture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Shared Memory IPC: Zero-copy multiprocessing.shared_memory streams 30 FPS telemetry and previews to GUI.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Hardware Audio Hook: Direct Windows Core Audio (Pycaw) input endpoint volume control.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Windows Camera Frame Server: OpenCV MSMF backend hooks svchost.exe -k Camera for native multi-app streaming.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Ambient HUD: CustomTkinter executive dashboard + topmost micro-pill Floating Capsule.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9659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4AF6A"/>
                </a:solidFill>
                <a:latin typeface="Segoe UI"/>
              </a:defRPr>
            </a:pPr>
            <a:r>
              <a:t>Summary &amp; Why ZeroTouch Wins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Executive Polish: Enterprise-ready companion built for everyday work, not a tech demo.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Zero Cloud Risk: True local privacy that enterprise users can actually deploy.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Production Ready: Complete with 1-click batch launcher, custom Windows taskbar branding, and system tray integration.</a:t>
            </a:r>
          </a:p>
          <a:p>
            <a:pPr>
              <a:spcBef>
                <a:spcPts val="600"/>
              </a:spcBef>
              <a:defRPr sz="1300">
                <a:solidFill>
                  <a:srgbClr val="F2EFE9"/>
                </a:solidFill>
                <a:latin typeface="Segoe UI"/>
              </a:defRPr>
            </a:pPr>
            <a:r>
              <a:t>• Open Source: https://github.com/Philphil-org/UAT-Hackathon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