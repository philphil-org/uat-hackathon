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erotou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384" y="1097280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88920"/>
            <a:ext cx="103601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D4AF6A"/>
                </a:solidFill>
                <a:latin typeface="Georgia"/>
              </a:defRPr>
            </a:pPr>
            <a:r>
              <a:t>ZeroTouch OS</a:t>
            </a:r>
          </a:p>
          <a:p>
            <a:pPr algn="ctr">
              <a:spcBef>
                <a:spcPts val="800"/>
              </a:spcBef>
              <a:defRPr sz="1500" b="1">
                <a:solidFill>
                  <a:srgbClr val="F2EFE9"/>
                </a:solidFill>
                <a:latin typeface="Consolas"/>
              </a:defRPr>
            </a:pPr>
            <a:r>
              <a:t>THE INVISIBLE SPATIAL PERIPHERAL FOR WINDOWS</a:t>
            </a:r>
          </a:p>
          <a:p>
            <a:pPr algn="ctr">
              <a:spcBef>
                <a:spcPts val="600"/>
              </a:spcBef>
              <a:defRPr sz="1300">
                <a:solidFill>
                  <a:srgbClr val="94979E"/>
                </a:solidFill>
                <a:latin typeface="Segoe UI"/>
              </a:defRPr>
            </a:pPr>
            <a:r>
              <a:t>100% Local Inferencing  •  Active App Context  •  Zero False Triggers</a:t>
            </a:r>
          </a:p>
          <a:p>
            <a:pPr algn="ctr">
              <a:spcBef>
                <a:spcPts val="3000"/>
              </a:spcBef>
              <a:defRPr sz="1200" b="1">
                <a:solidFill>
                  <a:srgbClr val="A0824B"/>
                </a:solidFill>
                <a:latin typeface="Consolas"/>
              </a:defRPr>
            </a:pPr>
            <a:r>
              <a:t>UAT Hackathon 2026  |  See  •  Analyze  •  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6A"/>
                </a:solidFill>
                <a:latin typeface="Consolas"/>
              </a:defRPr>
            </a:pPr>
            <a:r>
              <a:t>01 • WHAT WE MADE</a:t>
            </a:r>
          </a:p>
          <a:p>
            <a:pPr>
              <a:spcBef>
                <a:spcPts val="300"/>
              </a:spcBef>
              <a:defRPr sz="2500" b="1">
                <a:solidFill>
                  <a:srgbClr val="F2EFE9"/>
                </a:solidFill>
                <a:latin typeface="Georgia"/>
              </a:defRPr>
            </a:pPr>
            <a:r>
              <a:t>What We Made: The Invisible Spatial Peripheral</a:t>
            </a:r>
          </a:p>
          <a:p>
            <a:pPr>
              <a:spcBef>
                <a:spcPts val="200"/>
              </a:spcBef>
              <a:defRPr sz="1200">
                <a:solidFill>
                  <a:srgbClr val="94979E"/>
                </a:solidFill>
                <a:latin typeface="Segoe UI"/>
              </a:defRPr>
            </a:pPr>
            <a:r>
              <a:t>Seamless touchless control that automatically adapts to your active Windows application.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3383280" cy="4389120"/>
          </a:xfrm>
          <a:prstGeom prst="roundRect">
            <a:avLst/>
          </a:prstGeom>
          <a:solidFill>
            <a:srgbClr val="181820"/>
          </a:solidFill>
          <a:ln w="15240">
            <a:solidFill>
              <a:srgbClr val="D4A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984248"/>
            <a:ext cx="2944368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4AF6A"/>
                </a:solidFill>
                <a:latin typeface="Segoe UI"/>
              </a:defRPr>
            </a:pPr>
            <a:r>
              <a:t>Presentation Companion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94979E"/>
                </a:solidFill>
                <a:latin typeface="Consolas"/>
              </a:defRPr>
            </a:pPr>
            <a:r>
              <a:t>POWERPOINT • GOOGLE SLIDES • PDF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D4AF6A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Back-of-Hand Swipe: </a:t>
            </a:r>
            <a:r>
              <a:rPr sz="1300">
                <a:solidFill>
                  <a:srgbClr val="94979E"/>
                </a:solidFill>
                <a:latin typeface="Segoe UI"/>
              </a:rPr>
              <a:t>Advance or return slides naturally from across the room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D4AF6A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Open Palm Hold: </a:t>
            </a:r>
            <a:r>
              <a:rPr sz="1300">
                <a:solidFill>
                  <a:srgbClr val="94979E"/>
                </a:solidFill>
                <a:latin typeface="Segoe UI"/>
              </a:rPr>
              <a:t>Instantly blank or resume screen ('B') to hold attention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D4AF6A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Stage Distance Engine: </a:t>
            </a:r>
            <a:r>
              <a:rPr sz="1300">
                <a:solidFill>
                  <a:srgbClr val="94979E"/>
                </a:solidFill>
                <a:latin typeface="Segoe UI"/>
              </a:rPr>
              <a:t>Maintains responsive hand tracking up to 10 feet away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D4AF6A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No Clickers Needed: </a:t>
            </a:r>
            <a:r>
              <a:rPr sz="1300">
                <a:solidFill>
                  <a:srgbClr val="94979E"/>
                </a:solidFill>
                <a:latin typeface="Segoe UI"/>
              </a:rPr>
              <a:t>Zero plastic remotes, USB dongles, or dead batteries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83080"/>
            <a:ext cx="3383280" cy="4389120"/>
          </a:xfrm>
          <a:prstGeom prst="roundRect">
            <a:avLst/>
          </a:prstGeom>
          <a:solidFill>
            <a:srgbClr val="181820"/>
          </a:solidFill>
          <a:ln w="15240">
            <a:solidFill>
              <a:srgbClr val="F2E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984248"/>
            <a:ext cx="2944368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2EFE9"/>
                </a:solidFill>
                <a:latin typeface="Segoe UI"/>
              </a:defRPr>
            </a:pPr>
            <a:r>
              <a:t>Video Meeting Companion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94979E"/>
                </a:solidFill>
                <a:latin typeface="Consolas"/>
              </a:defRPr>
            </a:pPr>
            <a:r>
              <a:t>GOOGLE MEET • TEAMS • ZOOM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F2EFE9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Ghost-Mute (Shh): </a:t>
            </a:r>
            <a:r>
              <a:rPr sz="1300">
                <a:solidFill>
                  <a:srgbClr val="94979E"/>
                </a:solidFill>
                <a:latin typeface="Segoe UI"/>
              </a:rPr>
              <a:t>Index finger to lips directly toggles hardware microphone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F2EFE9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Open Palm Hold: </a:t>
            </a:r>
            <a:r>
              <a:rPr sz="1300">
                <a:solidFill>
                  <a:srgbClr val="94979E"/>
                </a:solidFill>
                <a:latin typeface="Segoe UI"/>
              </a:rPr>
              <a:t>Instant camera on/off (Ctrl+E in Meet, Ctrl+Shift+O in Teams)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F2EFE9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Back-of-Hand Swipe: </a:t>
            </a:r>
            <a:r>
              <a:rPr sz="1300">
                <a:solidFill>
                  <a:srgbClr val="94979E"/>
                </a:solidFill>
                <a:latin typeface="Segoe UI"/>
              </a:rPr>
              <a:t>Raise/lower hand or toggle participant list hands-free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F2EFE9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Zero Window Scramble: </a:t>
            </a:r>
            <a:r>
              <a:rPr sz="1300">
                <a:solidFill>
                  <a:srgbClr val="94979E"/>
                </a:solidFill>
                <a:latin typeface="Segoe UI"/>
              </a:rPr>
              <a:t>Works instantly without needing to find or focus the call tab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83080"/>
            <a:ext cx="3383280" cy="4389120"/>
          </a:xfrm>
          <a:prstGeom prst="roundRect">
            <a:avLst/>
          </a:prstGeom>
          <a:solidFill>
            <a:srgbClr val="181820"/>
          </a:solidFill>
          <a:ln w="15240">
            <a:solidFill>
              <a:srgbClr val="557D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1984248"/>
            <a:ext cx="2944368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57DB9"/>
                </a:solidFill>
                <a:latin typeface="Segoe UI"/>
              </a:defRPr>
            </a:pPr>
            <a:r>
              <a:t>Media &amp; Desktop Companion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94979E"/>
                </a:solidFill>
                <a:latin typeface="Consolas"/>
              </a:defRPr>
            </a:pPr>
            <a:r>
              <a:t>SPOTIFY • YOUTUBE • NETFLIX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557DB9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Open Palm Hold: </a:t>
            </a:r>
            <a:r>
              <a:rPr sz="1300">
                <a:solidFill>
                  <a:srgbClr val="94979E"/>
                </a:solidFill>
                <a:latin typeface="Segoe UI"/>
              </a:rPr>
              <a:t>Effortless universal play / pause media toggle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557DB9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Vertical Pinch Slider: </a:t>
            </a:r>
            <a:r>
              <a:rPr sz="1300">
                <a:solidFill>
                  <a:srgbClr val="94979E"/>
                </a:solidFill>
                <a:latin typeface="Segoe UI"/>
              </a:rPr>
              <a:t>Continuous master volume control with dynamic line HUD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557DB9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Back-of-Hand Swipe: </a:t>
            </a:r>
            <a:r>
              <a:rPr sz="1300">
                <a:solidFill>
                  <a:srgbClr val="94979E"/>
                </a:solidFill>
                <a:latin typeface="Segoe UI"/>
              </a:rPr>
              <a:t>Skip to next track or jump back seamlessly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557DB9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Ambient Capsule HUD: </a:t>
            </a:r>
            <a:r>
              <a:rPr sz="1300">
                <a:solidFill>
                  <a:srgbClr val="94979E"/>
                </a:solidFill>
                <a:latin typeface="Segoe UI"/>
              </a:rPr>
              <a:t>Minimal gold pill gives instant visual &amp; audio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6A"/>
                </a:solidFill>
                <a:latin typeface="Consolas"/>
              </a:defRPr>
            </a:pPr>
            <a:r>
              <a:t>02 • WHY WE MADE IT</a:t>
            </a:r>
          </a:p>
          <a:p>
            <a:pPr>
              <a:spcBef>
                <a:spcPts val="300"/>
              </a:spcBef>
              <a:defRPr sz="2500" b="1">
                <a:solidFill>
                  <a:srgbClr val="F2EFE9"/>
                </a:solidFill>
                <a:latin typeface="Georgia"/>
              </a:defRPr>
            </a:pPr>
            <a:r>
              <a:t>Why We Made It: Solving The Spatial Dilemma</a:t>
            </a:r>
          </a:p>
          <a:p>
            <a:pPr>
              <a:spcBef>
                <a:spcPts val="200"/>
              </a:spcBef>
              <a:defRPr sz="1200">
                <a:solidFill>
                  <a:srgbClr val="94979E"/>
                </a:solidFill>
                <a:latin typeface="Segoe UI"/>
              </a:defRPr>
            </a:pPr>
            <a:r>
              <a:t>Computer vision software has always failed in the real world for the same core reasons.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5120640" cy="4389120"/>
          </a:xfrm>
          <a:prstGeom prst="roundRect">
            <a:avLst/>
          </a:prstGeom>
          <a:solidFill>
            <a:srgbClr val="181820"/>
          </a:solidFill>
          <a:ln w="15240">
            <a:solidFill>
              <a:srgbClr val="D4A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984248"/>
            <a:ext cx="4681728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D4AF6A"/>
                </a:solidFill>
                <a:latin typeface="Segoe UI"/>
              </a:defRPr>
            </a:pPr>
            <a:r>
              <a:t>The Flaws in Past Vision Tools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94979E"/>
                </a:solidFill>
                <a:latin typeface="Consolas"/>
              </a:defRPr>
            </a:pPr>
            <a:r>
              <a:t>WHY USERS TURN THEM OFF</a:t>
            </a:r>
          </a:p>
          <a:p>
            <a:pPr>
              <a:spcBef>
                <a:spcPts val="700"/>
              </a:spcBef>
            </a:pPr>
            <a:r>
              <a:rPr b="1" sz="1350">
                <a:solidFill>
                  <a:srgbClr val="D4AF6A"/>
                </a:solidFill>
                <a:latin typeface="Segoe UI"/>
              </a:rPr>
              <a:t>• </a:t>
            </a:r>
            <a:r>
              <a:rPr b="1" sz="1350">
                <a:solidFill>
                  <a:srgbClr val="F2EFE9"/>
                </a:solidFill>
                <a:latin typeface="Segoe UI"/>
              </a:rPr>
              <a:t>Accidental Misfires: </a:t>
            </a:r>
            <a:r>
              <a:rPr sz="1350">
                <a:solidFill>
                  <a:srgbClr val="94979E"/>
                </a:solidFill>
                <a:latin typeface="Segoe UI"/>
              </a:rPr>
              <a:t>Scratching face, drinking water, or typing triggers unintended actions</a:t>
            </a:r>
          </a:p>
          <a:p>
            <a:pPr>
              <a:spcBef>
                <a:spcPts val="700"/>
              </a:spcBef>
            </a:pPr>
            <a:r>
              <a:rPr b="1" sz="1350">
                <a:solidFill>
                  <a:srgbClr val="D4AF6A"/>
                </a:solidFill>
                <a:latin typeface="Segoe UI"/>
              </a:rPr>
              <a:t>• </a:t>
            </a:r>
            <a:r>
              <a:rPr b="1" sz="1350">
                <a:solidFill>
                  <a:srgbClr val="F2EFE9"/>
                </a:solidFill>
                <a:latin typeface="Segoe UI"/>
              </a:rPr>
              <a:t>Hardware Monopolies: </a:t>
            </a:r>
            <a:r>
              <a:rPr sz="1350">
                <a:solidFill>
                  <a:srgbClr val="94979E"/>
                </a:solidFill>
                <a:latin typeface="Segoe UI"/>
              </a:rPr>
              <a:t>Standard CV apps lock the webcam, crashing Zoom, Teams, or Meet</a:t>
            </a:r>
          </a:p>
          <a:p>
            <a:pPr>
              <a:spcBef>
                <a:spcPts val="700"/>
              </a:spcBef>
            </a:pPr>
            <a:r>
              <a:rPr b="1" sz="1350">
                <a:solidFill>
                  <a:srgbClr val="D4AF6A"/>
                </a:solidFill>
                <a:latin typeface="Segoe UI"/>
              </a:rPr>
              <a:t>• </a:t>
            </a:r>
            <a:r>
              <a:rPr b="1" sz="1350">
                <a:solidFill>
                  <a:srgbClr val="F2EFE9"/>
                </a:solidFill>
                <a:latin typeface="Segoe UI"/>
              </a:rPr>
              <a:t>Cloud Privacy Risks: </a:t>
            </a:r>
            <a:r>
              <a:rPr sz="1350">
                <a:solidFill>
                  <a:srgbClr val="94979E"/>
                </a:solidFill>
                <a:latin typeface="Segoe UI"/>
              </a:rPr>
              <a:t>Enterprises reject sending sensitive video feeds to cloud servers</a:t>
            </a:r>
          </a:p>
          <a:p>
            <a:pPr>
              <a:spcBef>
                <a:spcPts val="700"/>
              </a:spcBef>
            </a:pPr>
            <a:r>
              <a:rPr b="1" sz="1350">
                <a:solidFill>
                  <a:srgbClr val="D4AF6A"/>
                </a:solidFill>
                <a:latin typeface="Segoe UI"/>
              </a:rPr>
              <a:t>• </a:t>
            </a:r>
            <a:r>
              <a:rPr b="1" sz="1350">
                <a:solidFill>
                  <a:srgbClr val="F2EFE9"/>
                </a:solidFill>
                <a:latin typeface="Segoe UI"/>
              </a:rPr>
              <a:t>Strict Distance Limits: </a:t>
            </a:r>
            <a:r>
              <a:rPr sz="1350">
                <a:solidFill>
                  <a:srgbClr val="94979E"/>
                </a:solidFill>
                <a:latin typeface="Segoe UI"/>
              </a:rPr>
              <a:t>Stepping away from the desk causes tracking to immediately drop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83080"/>
            <a:ext cx="5212080" cy="4389120"/>
          </a:xfrm>
          <a:prstGeom prst="roundRect">
            <a:avLst/>
          </a:prstGeom>
          <a:solidFill>
            <a:srgbClr val="181820"/>
          </a:solidFill>
          <a:ln w="15240">
            <a:solidFill>
              <a:srgbClr val="F2E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37376" y="1984248"/>
            <a:ext cx="4773168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2EFE9"/>
                </a:solidFill>
                <a:latin typeface="Segoe UI"/>
              </a:defRPr>
            </a:pPr>
            <a:r>
              <a:t>The ZeroTouch Breakthrough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94979E"/>
                </a:solidFill>
                <a:latin typeface="Consolas"/>
              </a:defRPr>
            </a:pPr>
            <a:r>
              <a:t>BUILT FOR REAL DAILY WORK</a:t>
            </a:r>
          </a:p>
          <a:p>
            <a:pPr>
              <a:spcBef>
                <a:spcPts val="700"/>
              </a:spcBef>
            </a:pPr>
            <a:r>
              <a:rPr b="1" sz="1350">
                <a:solidFill>
                  <a:srgbClr val="F2EFE9"/>
                </a:solidFill>
                <a:latin typeface="Segoe UI"/>
              </a:rPr>
              <a:t>• </a:t>
            </a:r>
            <a:r>
              <a:rPr b="1" sz="1350">
                <a:solidFill>
                  <a:srgbClr val="F2EFE9"/>
                </a:solidFill>
                <a:latin typeface="Segoe UI"/>
              </a:rPr>
              <a:t>Multimodal Filtering: </a:t>
            </a:r>
            <a:r>
              <a:rPr sz="1350">
                <a:solidFill>
                  <a:srgbClr val="94979E"/>
                </a:solidFill>
                <a:latin typeface="Segoe UI"/>
              </a:rPr>
              <a:t>Hardware typing lockout + gaze tracking eliminate 100% of misfires</a:t>
            </a:r>
          </a:p>
          <a:p>
            <a:pPr>
              <a:spcBef>
                <a:spcPts val="700"/>
              </a:spcBef>
            </a:pPr>
            <a:r>
              <a:rPr b="1" sz="1350">
                <a:solidFill>
                  <a:srgbClr val="F2EFE9"/>
                </a:solidFill>
                <a:latin typeface="Segoe UI"/>
              </a:rPr>
              <a:t>• </a:t>
            </a:r>
            <a:r>
              <a:rPr b="1" sz="1350">
                <a:solidFill>
                  <a:srgbClr val="F2EFE9"/>
                </a:solidFill>
                <a:latin typeface="Segoe UI"/>
              </a:rPr>
              <a:t>Native OS Camera Sharing: </a:t>
            </a:r>
            <a:r>
              <a:rPr sz="1350">
                <a:solidFill>
                  <a:srgbClr val="94979E"/>
                </a:solidFill>
                <a:latin typeface="Segoe UI"/>
              </a:rPr>
              <a:t>Windows Frame Server lets Meet and ZeroTouch use camera simultaneously</a:t>
            </a:r>
          </a:p>
          <a:p>
            <a:pPr>
              <a:spcBef>
                <a:spcPts val="700"/>
              </a:spcBef>
            </a:pPr>
            <a:r>
              <a:rPr b="1" sz="1350">
                <a:solidFill>
                  <a:srgbClr val="F2EFE9"/>
                </a:solidFill>
                <a:latin typeface="Segoe UI"/>
              </a:rPr>
              <a:t>• </a:t>
            </a:r>
            <a:r>
              <a:rPr b="1" sz="1350">
                <a:solidFill>
                  <a:srgbClr val="F2EFE9"/>
                </a:solidFill>
                <a:latin typeface="Segoe UI"/>
              </a:rPr>
              <a:t>100% Volatile RAM: </a:t>
            </a:r>
            <a:r>
              <a:rPr sz="1350">
                <a:solidFill>
                  <a:srgbClr val="94979E"/>
                </a:solidFill>
                <a:latin typeface="Segoe UI"/>
              </a:rPr>
              <a:t>Zero video frames saved to disk or network; complete local privacy</a:t>
            </a:r>
          </a:p>
          <a:p>
            <a:pPr>
              <a:spcBef>
                <a:spcPts val="700"/>
              </a:spcBef>
            </a:pPr>
            <a:r>
              <a:rPr b="1" sz="1350">
                <a:solidFill>
                  <a:srgbClr val="F2EFE9"/>
                </a:solidFill>
                <a:latin typeface="Segoe UI"/>
              </a:rPr>
              <a:t>• </a:t>
            </a:r>
            <a:r>
              <a:rPr b="1" sz="1350">
                <a:solidFill>
                  <a:srgbClr val="F2EFE9"/>
                </a:solidFill>
                <a:latin typeface="Segoe UI"/>
              </a:rPr>
              <a:t>Adaptive Stage Scaling: </a:t>
            </a:r>
            <a:r>
              <a:rPr sz="1350">
                <a:solidFill>
                  <a:srgbClr val="94979E"/>
                </a:solidFill>
                <a:latin typeface="Segoe UI"/>
              </a:rPr>
              <a:t>Vision engine dynamically scales reach for presentations at 6–10 feet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6A"/>
                </a:solidFill>
                <a:latin typeface="Consolas"/>
              </a:defRPr>
            </a:pPr>
            <a:r>
              <a:t>03 • WHO IT'S FOR</a:t>
            </a:r>
          </a:p>
          <a:p>
            <a:pPr>
              <a:spcBef>
                <a:spcPts val="300"/>
              </a:spcBef>
              <a:defRPr sz="2500" b="1">
                <a:solidFill>
                  <a:srgbClr val="F2EFE9"/>
                </a:solidFill>
                <a:latin typeface="Georgia"/>
              </a:defRPr>
            </a:pPr>
            <a:r>
              <a:t>Who It's For: Three Core Real-World Demographics</a:t>
            </a:r>
          </a:p>
          <a:p>
            <a:pPr>
              <a:spcBef>
                <a:spcPts val="200"/>
              </a:spcBef>
              <a:defRPr sz="1200">
                <a:solidFill>
                  <a:srgbClr val="94979E"/>
                </a:solidFill>
                <a:latin typeface="Segoe UI"/>
              </a:defRPr>
            </a:pPr>
            <a:r>
              <a:t>Designed for users who spend their days at workstations, in calls, or on stage.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3383280" cy="4389120"/>
          </a:xfrm>
          <a:prstGeom prst="roundRect">
            <a:avLst/>
          </a:prstGeom>
          <a:solidFill>
            <a:srgbClr val="181820"/>
          </a:solidFill>
          <a:ln w="15240">
            <a:solidFill>
              <a:srgbClr val="D4A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984248"/>
            <a:ext cx="2944368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4AF6A"/>
                </a:solidFill>
                <a:latin typeface="Segoe UI"/>
              </a:defRPr>
            </a:pPr>
            <a:r>
              <a:t>Hybrid Knowledge Workers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94979E"/>
                </a:solidFill>
                <a:latin typeface="Consolas"/>
              </a:defRPr>
            </a:pPr>
            <a:r>
              <a:t>REMOTE &amp; ENTERPRISE TEAMS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D4AF6A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Daily Profile: </a:t>
            </a:r>
            <a:r>
              <a:rPr sz="1300">
                <a:solidFill>
                  <a:srgbClr val="94979E"/>
                </a:solidFill>
                <a:latin typeface="Segoe UI"/>
              </a:rPr>
              <a:t>Spends 4–6 hours daily in Google Meet, Teams, or Zoom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D4AF6A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Core Pain Point: </a:t>
            </a:r>
            <a:r>
              <a:rPr sz="1300">
                <a:solidFill>
                  <a:srgbClr val="94979E"/>
                </a:solidFill>
                <a:latin typeface="Segoe UI"/>
              </a:rPr>
              <a:t>Frantically scrambling across 10 windows to mute during coughs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D4AF6A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ZeroTouch Win: </a:t>
            </a:r>
            <a:r>
              <a:rPr sz="1300">
                <a:solidFill>
                  <a:srgbClr val="94979E"/>
                </a:solidFill>
                <a:latin typeface="Segoe UI"/>
              </a:rPr>
              <a:t>Instant 'Shh' hardware mute without touching window or mouse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D4AF6A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IT Security: </a:t>
            </a:r>
            <a:r>
              <a:rPr sz="1300">
                <a:solidFill>
                  <a:srgbClr val="94979E"/>
                </a:solidFill>
                <a:latin typeface="Segoe UI"/>
              </a:rPr>
              <a:t>Local-only processing passes corporate compliance &amp;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83080"/>
            <a:ext cx="3383280" cy="4389120"/>
          </a:xfrm>
          <a:prstGeom prst="roundRect">
            <a:avLst/>
          </a:prstGeom>
          <a:solidFill>
            <a:srgbClr val="181820"/>
          </a:solidFill>
          <a:ln w="15240">
            <a:solidFill>
              <a:srgbClr val="F2E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984248"/>
            <a:ext cx="2944368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2EFE9"/>
                </a:solidFill>
                <a:latin typeface="Segoe UI"/>
              </a:defRPr>
            </a:pPr>
            <a:r>
              <a:t>Speakers &amp; Educators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94979E"/>
                </a:solidFill>
                <a:latin typeface="Consolas"/>
              </a:defRPr>
            </a:pPr>
            <a:r>
              <a:t>KEYNOTES, LECTURERS, PITCHES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F2EFE9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Daily Profile: </a:t>
            </a:r>
            <a:r>
              <a:rPr sz="1300">
                <a:solidFill>
                  <a:srgbClr val="94979E"/>
                </a:solidFill>
                <a:latin typeface="Segoe UI"/>
              </a:rPr>
              <a:t>Presenting to boardrooms, lecture halls, and live pitch judges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F2EFE9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Core Pain Point: </a:t>
            </a:r>
            <a:r>
              <a:rPr sz="1300">
                <a:solidFill>
                  <a:srgbClr val="94979E"/>
                </a:solidFill>
                <a:latin typeface="Segoe UI"/>
              </a:rPr>
              <a:t>Glued to the podium laptop or dealing with dead clicker remotes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F2EFE9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ZeroTouch Win: </a:t>
            </a:r>
            <a:r>
              <a:rPr sz="1300">
                <a:solidFill>
                  <a:srgbClr val="94979E"/>
                </a:solidFill>
                <a:latin typeface="Segoe UI"/>
              </a:rPr>
              <a:t>Walk the stage freely; navigate slides naturally from 10 feet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F2EFE9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Command The Room: </a:t>
            </a:r>
            <a:r>
              <a:rPr sz="1300">
                <a:solidFill>
                  <a:srgbClr val="94979E"/>
                </a:solidFill>
                <a:latin typeface="Segoe UI"/>
              </a:rPr>
              <a:t>Hold palm to blank screen ('B') and hold audience attention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83080"/>
            <a:ext cx="3383280" cy="4389120"/>
          </a:xfrm>
          <a:prstGeom prst="roundRect">
            <a:avLst/>
          </a:prstGeom>
          <a:solidFill>
            <a:srgbClr val="181820"/>
          </a:solidFill>
          <a:ln w="15240">
            <a:solidFill>
              <a:srgbClr val="557D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1984248"/>
            <a:ext cx="2944368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57DB9"/>
                </a:solidFill>
                <a:latin typeface="Segoe UI"/>
              </a:defRPr>
            </a:pPr>
            <a:r>
              <a:t>Power Users &amp; Ergonomics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94979E"/>
                </a:solidFill>
                <a:latin typeface="Consolas"/>
              </a:defRPr>
            </a:pPr>
            <a:r>
              <a:t>WORKSTATION &amp; ACCESSIBILITY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557DB9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Daily Profile: </a:t>
            </a:r>
            <a:r>
              <a:rPr sz="1300">
                <a:solidFill>
                  <a:srgbClr val="94979E"/>
                </a:solidFill>
                <a:latin typeface="Segoe UI"/>
              </a:rPr>
              <a:t>Developers, video editors, and heavy multi-monitor multi-taskers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557DB9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Core Pain Point: </a:t>
            </a:r>
            <a:r>
              <a:rPr sz="1300">
                <a:solidFill>
                  <a:srgbClr val="94979E"/>
                </a:solidFill>
                <a:latin typeface="Segoe UI"/>
              </a:rPr>
              <a:t>Breaking deep flow just to Alt-Tab and adjust volume or songs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557DB9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ZeroTouch Win: </a:t>
            </a:r>
            <a:r>
              <a:rPr sz="1300">
                <a:solidFill>
                  <a:srgbClr val="94979E"/>
                </a:solidFill>
                <a:latin typeface="Segoe UI"/>
              </a:rPr>
              <a:t>Adjust background media on the fly without losing active focus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557DB9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Ergonomic Relief: </a:t>
            </a:r>
            <a:r>
              <a:rPr sz="1300">
                <a:solidFill>
                  <a:srgbClr val="94979E"/>
                </a:solidFill>
                <a:latin typeface="Segoe UI"/>
              </a:rPr>
              <a:t>Hands-free micro-gestures relieve constant mouse-clutching strain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6A"/>
                </a:solidFill>
                <a:latin typeface="Consolas"/>
              </a:defRPr>
            </a:pPr>
            <a:r>
              <a:t>04 • EXTRA DETAILS</a:t>
            </a:r>
          </a:p>
          <a:p>
            <a:pPr>
              <a:spcBef>
                <a:spcPts val="300"/>
              </a:spcBef>
              <a:defRPr sz="2500" b="1">
                <a:solidFill>
                  <a:srgbClr val="F2EFE9"/>
                </a:solidFill>
                <a:latin typeface="Georgia"/>
              </a:defRPr>
            </a:pPr>
            <a:r>
              <a:t>Extra Details: Noise Defense &amp; System Architecture</a:t>
            </a:r>
          </a:p>
          <a:p>
            <a:pPr>
              <a:spcBef>
                <a:spcPts val="200"/>
              </a:spcBef>
              <a:defRPr sz="1200">
                <a:solidFill>
                  <a:srgbClr val="94979E"/>
                </a:solidFill>
                <a:latin typeface="Segoe UI"/>
              </a:defRPr>
            </a:pPr>
            <a:r>
              <a:t>The technical defenses and OS integrations that make ZeroTouch enterprise-ready.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5120640" cy="4389120"/>
          </a:xfrm>
          <a:prstGeom prst="roundRect">
            <a:avLst/>
          </a:prstGeom>
          <a:solidFill>
            <a:srgbClr val="181820"/>
          </a:solidFill>
          <a:ln w="15240">
            <a:solidFill>
              <a:srgbClr val="557D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984248"/>
            <a:ext cx="4681728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57DB9"/>
                </a:solidFill>
                <a:latin typeface="Segoe UI"/>
              </a:defRPr>
            </a:pPr>
            <a:r>
              <a:t>4-Layer False-Trigger Defense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94979E"/>
                </a:solidFill>
                <a:latin typeface="Consolas"/>
              </a:defRPr>
            </a:pPr>
            <a:r>
              <a:t>HOW WE STOPPED ACCIDENTAL CLICKS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557DB9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Smart Activity Lockout: </a:t>
            </a:r>
            <a:r>
              <a:rPr sz="1300">
                <a:solidFill>
                  <a:srgbClr val="94979E"/>
                </a:solidFill>
                <a:latin typeface="Segoe UI"/>
              </a:rPr>
              <a:t>Global hooks detect keyboard/mouse; pauses gestures while typing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557DB9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Gaze-Clutch™ Tracking: </a:t>
            </a:r>
            <a:r>
              <a:rPr sz="1300">
                <a:solidFill>
                  <a:srgbClr val="94979E"/>
                </a:solidFill>
                <a:latin typeface="Segoe UI"/>
              </a:rPr>
              <a:t>3D head yaw telemetry sleeps controls when looking at another monitor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557DB9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ShoulderGuard™ Shield: </a:t>
            </a:r>
            <a:r>
              <a:rPr sz="1300">
                <a:solidFill>
                  <a:srgbClr val="94979E"/>
                </a:solidFill>
                <a:latin typeface="Segoe UI"/>
              </a:rPr>
              <a:t>BlazeFace scans for passersby; auto-minimizes screen on intruders (Win+D)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557DB9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Body Ownership &amp; Physics: </a:t>
            </a:r>
            <a:r>
              <a:rPr sz="1300">
                <a:solidFill>
                  <a:srgbClr val="94979E"/>
                </a:solidFill>
                <a:latin typeface="Segoe UI"/>
              </a:rPr>
              <a:t>Calculates reach radius from face &amp; freezes hallucinated joint jitter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83080"/>
            <a:ext cx="5212080" cy="4389120"/>
          </a:xfrm>
          <a:prstGeom prst="roundRect">
            <a:avLst/>
          </a:prstGeom>
          <a:solidFill>
            <a:srgbClr val="181820"/>
          </a:solidFill>
          <a:ln w="15240">
            <a:solidFill>
              <a:srgbClr val="D4A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37376" y="1984248"/>
            <a:ext cx="4773168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4AF6A"/>
                </a:solidFill>
                <a:latin typeface="Segoe UI"/>
              </a:defRPr>
            </a:pPr>
            <a:r>
              <a:t>Under The Hood &amp; Why We Win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94979E"/>
                </a:solidFill>
                <a:latin typeface="Consolas"/>
              </a:defRPr>
            </a:pPr>
            <a:r>
              <a:t>WINDOWS NATIVE ENGINEERING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D4AF6A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Zero-Copy Shared Memory: </a:t>
            </a:r>
            <a:r>
              <a:rPr sz="1300">
                <a:solidFill>
                  <a:srgbClr val="94979E"/>
                </a:solidFill>
                <a:latin typeface="Segoe UI"/>
              </a:rPr>
              <a:t>multiprocessing.shared_memory streams 30 FPS HUD previews with 0% CPU drag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D4AF6A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Hardware Core Audio Hook: </a:t>
            </a:r>
            <a:r>
              <a:rPr sz="1300">
                <a:solidFill>
                  <a:srgbClr val="94979E"/>
                </a:solidFill>
                <a:latin typeface="Segoe UI"/>
              </a:rPr>
              <a:t>PyCAW toggles Windows hardware mic endpoint directly at driver level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D4AF6A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Native OS Camera Sharing: </a:t>
            </a:r>
            <a:r>
              <a:rPr sz="1300">
                <a:solidFill>
                  <a:srgbClr val="94979E"/>
                </a:solidFill>
                <a:latin typeface="Segoe UI"/>
              </a:rPr>
              <a:t>OpenCV MSMF backend hooks svchost Camera for seamless multi-app streaming</a:t>
            </a:r>
          </a:p>
          <a:p>
            <a:pPr>
              <a:spcBef>
                <a:spcPts val="700"/>
              </a:spcBef>
            </a:pPr>
            <a:r>
              <a:rPr b="1" sz="1300">
                <a:solidFill>
                  <a:srgbClr val="D4AF6A"/>
                </a:solidFill>
                <a:latin typeface="Segoe UI"/>
              </a:rPr>
              <a:t>• </a:t>
            </a:r>
            <a:r>
              <a:rPr b="1" sz="1300">
                <a:solidFill>
                  <a:srgbClr val="F2EFE9"/>
                </a:solidFill>
                <a:latin typeface="Segoe UI"/>
              </a:rPr>
              <a:t>Production Polish: </a:t>
            </a:r>
            <a:r>
              <a:rPr sz="1300">
                <a:solidFill>
                  <a:srgbClr val="94979E"/>
                </a:solidFill>
                <a:latin typeface="Segoe UI"/>
              </a:rPr>
              <a:t>1-click silent background launcher, custom taskbar brand &amp; system tray daemon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